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2" r:id="rId17"/>
    <p:sldId id="274" r:id="rId18"/>
    <p:sldId id="275" r:id="rId19"/>
    <p:sldId id="270" r:id="rId20"/>
  </p:sldIdLst>
  <p:sldSz cx="18288000" cy="10287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Impact" panose="020B0806030902050204" pitchFamily="34" charset="0"/>
      <p:regular r:id="rId25"/>
    </p:embeddedFont>
    <p:embeddedFont>
      <p:font typeface="Clear San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F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78625" y="2636829"/>
            <a:ext cx="14323941" cy="38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sz="9600" dirty="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SPOTIFY </a:t>
            </a:r>
            <a:endParaRPr lang="en-US" sz="9600" dirty="0" smtClean="0">
              <a:solidFill>
                <a:srgbClr val="7ED957"/>
              </a:solidFill>
              <a:latin typeface="Impact"/>
              <a:ea typeface="Impact"/>
              <a:cs typeface="Impact"/>
              <a:sym typeface="Impact"/>
            </a:endParaRPr>
          </a:p>
          <a:p>
            <a:pPr algn="ctr">
              <a:lnSpc>
                <a:spcPts val="14853"/>
              </a:lnSpc>
            </a:pPr>
            <a:r>
              <a:rPr lang="en-US" sz="9600" dirty="0" smtClean="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CASE  </a:t>
            </a:r>
            <a:r>
              <a:rPr lang="en-US" sz="9600" dirty="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STUDY</a:t>
            </a:r>
            <a:endParaRPr lang="en-US" sz="9600" dirty="0">
              <a:solidFill>
                <a:srgbClr val="11F75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721405" y="9578304"/>
            <a:ext cx="6808278" cy="42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 b="1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Presented By </a:t>
            </a:r>
            <a:r>
              <a:rPr lang="en-US" sz="3206" b="1" dirty="0" smtClean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:TANMAY </a:t>
            </a:r>
            <a:r>
              <a:rPr lang="en-US" sz="3206" b="1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GARJE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397559" y="2531765"/>
            <a:ext cx="10085565" cy="179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2"/>
              </a:lnSpc>
            </a:pPr>
            <a:r>
              <a:rPr lang="en-US" sz="13222" dirty="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INTRODUCTION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91604" y="4829013"/>
            <a:ext cx="12596190" cy="475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3"/>
              </a:lnSpc>
            </a:pPr>
            <a:r>
              <a:rPr lang="en-US" sz="3795" dirty="0">
                <a:solidFill>
                  <a:schemeClr val="tx2">
                    <a:lumMod val="75000"/>
                  </a:schemeClr>
                </a:solidFill>
                <a:latin typeface="Clear Sans"/>
                <a:ea typeface="Clear Sans"/>
                <a:cs typeface="Clear Sans"/>
                <a:sym typeface="Clear Sans"/>
              </a:rPr>
              <a:t>This dataset captures a user's complete music streaming history on Spotify. It includes:</a:t>
            </a:r>
          </a:p>
          <a:p>
            <a:pPr marL="819430" lvl="1" indent="-409715" algn="ctr">
              <a:lnSpc>
                <a:spcPts val="5313"/>
              </a:lnSpc>
              <a:buFont typeface="Arial"/>
              <a:buChar char="•"/>
            </a:pPr>
            <a:r>
              <a:rPr lang="en-US" sz="3795" dirty="0">
                <a:solidFill>
                  <a:schemeClr val="tx2">
                    <a:lumMod val="75000"/>
                  </a:schemeClr>
                </a:solidFill>
                <a:latin typeface="Clear Sans"/>
                <a:ea typeface="Clear Sans"/>
                <a:cs typeface="Clear Sans"/>
                <a:sym typeface="Clear Sans"/>
              </a:rPr>
              <a:t>Timestamps of when each track was played</a:t>
            </a:r>
          </a:p>
          <a:p>
            <a:pPr marL="819430" lvl="1" indent="-409715" algn="ctr">
              <a:lnSpc>
                <a:spcPts val="5313"/>
              </a:lnSpc>
              <a:buFont typeface="Arial"/>
              <a:buChar char="•"/>
            </a:pPr>
            <a:r>
              <a:rPr lang="en-US" sz="3795" dirty="0">
                <a:solidFill>
                  <a:schemeClr val="tx2">
                    <a:lumMod val="75000"/>
                  </a:schemeClr>
                </a:solidFill>
                <a:latin typeface="Clear Sans"/>
                <a:ea typeface="Clear Sans"/>
                <a:cs typeface="Clear Sans"/>
                <a:sym typeface="Clear Sans"/>
              </a:rPr>
              <a:t>Track name, artist, and album</a:t>
            </a:r>
          </a:p>
          <a:p>
            <a:pPr marL="819430" lvl="1" indent="-409715" algn="ctr">
              <a:lnSpc>
                <a:spcPts val="5313"/>
              </a:lnSpc>
              <a:buFont typeface="Arial"/>
              <a:buChar char="•"/>
            </a:pPr>
            <a:r>
              <a:rPr lang="en-US" sz="3795" dirty="0">
                <a:solidFill>
                  <a:schemeClr val="tx2">
                    <a:lumMod val="75000"/>
                  </a:schemeClr>
                </a:solidFill>
                <a:latin typeface="Clear Sans"/>
                <a:ea typeface="Clear Sans"/>
                <a:cs typeface="Clear Sans"/>
                <a:sym typeface="Clear Sans"/>
              </a:rPr>
              <a:t>Reasons for playing and stopping the track</a:t>
            </a:r>
          </a:p>
          <a:p>
            <a:pPr marL="819430" lvl="1" indent="-409715" algn="ctr">
              <a:lnSpc>
                <a:spcPts val="5313"/>
              </a:lnSpc>
              <a:buFont typeface="Arial"/>
              <a:buChar char="•"/>
            </a:pPr>
            <a:r>
              <a:rPr lang="en-US" sz="3795" dirty="0">
                <a:solidFill>
                  <a:schemeClr val="tx2">
                    <a:lumMod val="75000"/>
                  </a:schemeClr>
                </a:solidFill>
                <a:latin typeface="Clear Sans"/>
                <a:ea typeface="Clear Sans"/>
                <a:cs typeface="Clear Sans"/>
                <a:sym typeface="Clear Sans"/>
              </a:rPr>
              <a:t>Duration played and whether the track was skipped</a:t>
            </a:r>
          </a:p>
          <a:p>
            <a:pPr algn="ctr">
              <a:lnSpc>
                <a:spcPts val="5313"/>
              </a:lnSpc>
            </a:pPr>
            <a:endParaRPr lang="en-US" sz="3795" dirty="0">
              <a:solidFill>
                <a:srgbClr val="0CC0D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816686" y="1097078"/>
            <a:ext cx="12121902" cy="252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11"/>
              </a:lnSpc>
              <a:spcBef>
                <a:spcPct val="0"/>
              </a:spcBef>
            </a:pPr>
            <a:r>
              <a:rPr lang="en-US" sz="13222" dirty="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PROBLEM STATEMENT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14600" y="6434565"/>
            <a:ext cx="13727308" cy="28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8"/>
              </a:lnSpc>
              <a:spcBef>
                <a:spcPct val="0"/>
              </a:spcBef>
            </a:pPr>
            <a:r>
              <a:rPr lang="en-US" sz="4000" dirty="0">
                <a:solidFill>
                  <a:srgbClr val="545454"/>
                </a:solidFill>
                <a:latin typeface="Impact"/>
                <a:ea typeface="Impact"/>
                <a:cs typeface="Impact"/>
                <a:sym typeface="Impact"/>
              </a:rPr>
              <a:t>TO ANALYZE A USER'S SPOTIFY STREAMING HISTORY AND </a:t>
            </a:r>
          </a:p>
          <a:p>
            <a:pPr algn="ctr">
              <a:lnSpc>
                <a:spcPts val="7758"/>
              </a:lnSpc>
              <a:spcBef>
                <a:spcPct val="0"/>
              </a:spcBef>
            </a:pPr>
            <a:r>
              <a:rPr lang="en-US" sz="4000" dirty="0">
                <a:solidFill>
                  <a:srgbClr val="545454"/>
                </a:solidFill>
                <a:latin typeface="Impact"/>
                <a:ea typeface="Impact"/>
                <a:cs typeface="Impact"/>
                <a:sym typeface="Impact"/>
              </a:rPr>
              <a:t>GENERATE INSIGHTS INTO THEIR LISTENING HABITS,</a:t>
            </a:r>
          </a:p>
          <a:p>
            <a:pPr algn="ctr">
              <a:lnSpc>
                <a:spcPts val="7758"/>
              </a:lnSpc>
              <a:spcBef>
                <a:spcPct val="0"/>
              </a:spcBef>
            </a:pPr>
            <a:r>
              <a:rPr lang="en-US" sz="4000" dirty="0">
                <a:solidFill>
                  <a:srgbClr val="545454"/>
                </a:solidFill>
                <a:latin typeface="Impact"/>
                <a:ea typeface="Impact"/>
                <a:cs typeface="Impact"/>
                <a:sym typeface="Impact"/>
              </a:rPr>
              <a:t> PREFERENCES, AND BEHAVIORAL PATTERNS.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71958" y="1280588"/>
            <a:ext cx="11086642" cy="3500121"/>
          </a:xfrm>
          <a:custGeom>
            <a:avLst/>
            <a:gdLst/>
            <a:ahLst/>
            <a:cxnLst/>
            <a:rect l="l" t="t" r="r" b="b"/>
            <a:pathLst>
              <a:path w="10663701" h="3500121">
                <a:moveTo>
                  <a:pt x="0" y="0"/>
                </a:moveTo>
                <a:lnTo>
                  <a:pt x="10663700" y="0"/>
                </a:lnTo>
                <a:lnTo>
                  <a:pt x="10663700" y="3500121"/>
                </a:lnTo>
                <a:lnTo>
                  <a:pt x="0" y="3500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837978" y="4508670"/>
            <a:ext cx="5761927" cy="5493979"/>
          </a:xfrm>
          <a:custGeom>
            <a:avLst/>
            <a:gdLst/>
            <a:ahLst/>
            <a:cxnLst/>
            <a:rect l="l" t="t" r="r" b="b"/>
            <a:pathLst>
              <a:path w="5761927" h="5493979">
                <a:moveTo>
                  <a:pt x="0" y="0"/>
                </a:moveTo>
                <a:lnTo>
                  <a:pt x="5761927" y="0"/>
                </a:lnTo>
                <a:lnTo>
                  <a:pt x="5761927" y="5493979"/>
                </a:lnTo>
                <a:lnTo>
                  <a:pt x="0" y="549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165" b="-216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-1038050" y="273025"/>
            <a:ext cx="13883719" cy="79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1. WHICH ARTISTS WERE MOST LISTENED TO THIS YEAR?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37181" y="1211773"/>
            <a:ext cx="10558950" cy="3837338"/>
          </a:xfrm>
          <a:custGeom>
            <a:avLst/>
            <a:gdLst/>
            <a:ahLst/>
            <a:cxnLst/>
            <a:rect l="l" t="t" r="r" b="b"/>
            <a:pathLst>
              <a:path w="10558950" h="3837338">
                <a:moveTo>
                  <a:pt x="0" y="0"/>
                </a:moveTo>
                <a:lnTo>
                  <a:pt x="10558950" y="0"/>
                </a:lnTo>
                <a:lnTo>
                  <a:pt x="10558950" y="3837338"/>
                </a:lnTo>
                <a:lnTo>
                  <a:pt x="0" y="3837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796131" y="5143500"/>
            <a:ext cx="5698191" cy="4900862"/>
          </a:xfrm>
          <a:custGeom>
            <a:avLst/>
            <a:gdLst/>
            <a:ahLst/>
            <a:cxnLst/>
            <a:rect l="l" t="t" r="r" b="b"/>
            <a:pathLst>
              <a:path w="5698191" h="4900862">
                <a:moveTo>
                  <a:pt x="0" y="0"/>
                </a:moveTo>
                <a:lnTo>
                  <a:pt x="5698192" y="0"/>
                </a:lnTo>
                <a:lnTo>
                  <a:pt x="5698192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150" b="-2150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-2133600" y="209845"/>
            <a:ext cx="14202330" cy="82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2. HOW DOES THAT COMPARE TO LAST YEAR</a:t>
            </a:r>
            <a:r>
              <a:rPr lang="en-US" sz="4000" b="1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5109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2104" y="1035697"/>
            <a:ext cx="9194551" cy="4107803"/>
          </a:xfrm>
          <a:custGeom>
            <a:avLst/>
            <a:gdLst/>
            <a:ahLst/>
            <a:cxnLst/>
            <a:rect l="l" t="t" r="r" b="b"/>
            <a:pathLst>
              <a:path w="9194551" h="4107803">
                <a:moveTo>
                  <a:pt x="0" y="0"/>
                </a:moveTo>
                <a:lnTo>
                  <a:pt x="9194551" y="0"/>
                </a:lnTo>
                <a:lnTo>
                  <a:pt x="9194551" y="4107803"/>
                </a:lnTo>
                <a:lnTo>
                  <a:pt x="0" y="4107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35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475924" y="5372100"/>
            <a:ext cx="12528192" cy="4220872"/>
          </a:xfrm>
          <a:custGeom>
            <a:avLst/>
            <a:gdLst/>
            <a:ahLst/>
            <a:cxnLst/>
            <a:rect l="l" t="t" r="r" b="b"/>
            <a:pathLst>
              <a:path w="12528192" h="4220872">
                <a:moveTo>
                  <a:pt x="0" y="0"/>
                </a:moveTo>
                <a:lnTo>
                  <a:pt x="12528192" y="0"/>
                </a:lnTo>
                <a:lnTo>
                  <a:pt x="12528192" y="4220872"/>
                </a:lnTo>
                <a:lnTo>
                  <a:pt x="0" y="4220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-1756751" y="87329"/>
            <a:ext cx="14465349" cy="78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1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3. WHAT ARE THE MOST-PLAYED SONGS OVERALL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8761" y="802897"/>
            <a:ext cx="8895150" cy="4772398"/>
          </a:xfrm>
          <a:custGeom>
            <a:avLst/>
            <a:gdLst/>
            <a:ahLst/>
            <a:cxnLst/>
            <a:rect l="l" t="t" r="r" b="b"/>
            <a:pathLst>
              <a:path w="8895150" h="4772398">
                <a:moveTo>
                  <a:pt x="0" y="0"/>
                </a:moveTo>
                <a:lnTo>
                  <a:pt x="8895150" y="0"/>
                </a:lnTo>
                <a:lnTo>
                  <a:pt x="8895150" y="4772398"/>
                </a:lnTo>
                <a:lnTo>
                  <a:pt x="0" y="4772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666818" y="5841765"/>
            <a:ext cx="11592482" cy="4256990"/>
          </a:xfrm>
          <a:custGeom>
            <a:avLst/>
            <a:gdLst/>
            <a:ahLst/>
            <a:cxnLst/>
            <a:rect l="l" t="t" r="r" b="b"/>
            <a:pathLst>
              <a:path w="11592482" h="4256990">
                <a:moveTo>
                  <a:pt x="0" y="0"/>
                </a:moveTo>
                <a:lnTo>
                  <a:pt x="11592482" y="0"/>
                </a:lnTo>
                <a:lnTo>
                  <a:pt x="11592482" y="4256990"/>
                </a:lnTo>
                <a:lnTo>
                  <a:pt x="0" y="42569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-884529" y="-139837"/>
            <a:ext cx="14492479" cy="79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4. WHICH SONGS ARE MOST FREQUENTLY SKIPPED </a:t>
            </a:r>
            <a:r>
              <a:rPr lang="en-US" sz="4000" b="1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31958" y="1028700"/>
            <a:ext cx="10762525" cy="3533963"/>
          </a:xfrm>
          <a:custGeom>
            <a:avLst/>
            <a:gdLst/>
            <a:ahLst/>
            <a:cxnLst/>
            <a:rect l="l" t="t" r="r" b="b"/>
            <a:pathLst>
              <a:path w="10762525" h="3533963">
                <a:moveTo>
                  <a:pt x="0" y="0"/>
                </a:moveTo>
                <a:lnTo>
                  <a:pt x="10762525" y="0"/>
                </a:lnTo>
                <a:lnTo>
                  <a:pt x="10762525" y="3533963"/>
                </a:lnTo>
                <a:lnTo>
                  <a:pt x="0" y="35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137061" y="4791263"/>
            <a:ext cx="10860527" cy="5283499"/>
          </a:xfrm>
          <a:custGeom>
            <a:avLst/>
            <a:gdLst/>
            <a:ahLst/>
            <a:cxnLst/>
            <a:rect l="l" t="t" r="r" b="b"/>
            <a:pathLst>
              <a:path w="10860527" h="5283499">
                <a:moveTo>
                  <a:pt x="0" y="0"/>
                </a:moveTo>
                <a:lnTo>
                  <a:pt x="10860526" y="0"/>
                </a:lnTo>
                <a:lnTo>
                  <a:pt x="10860526" y="5283500"/>
                </a:lnTo>
                <a:lnTo>
                  <a:pt x="0" y="528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2651573" y="66916"/>
            <a:ext cx="10999708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22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5. FAVOURITE SONGS</a:t>
            </a:r>
          </a:p>
        </p:txBody>
      </p:sp>
      <p:sp>
        <p:nvSpPr>
          <p:cNvPr id="21" name="Freeform 3"/>
          <p:cNvSpPr/>
          <p:nvPr/>
        </p:nvSpPr>
        <p:spPr>
          <a:xfrm rot="10800000">
            <a:off x="16274942" y="15129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4"/>
          <p:cNvSpPr/>
          <p:nvPr/>
        </p:nvSpPr>
        <p:spPr>
          <a:xfrm>
            <a:off x="16306678" y="10785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5"/>
          <p:cNvSpPr/>
          <p:nvPr/>
        </p:nvSpPr>
        <p:spPr>
          <a:xfrm rot="10800000" flipV="1">
            <a:off x="15303277" y="214309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6"/>
          <p:cNvSpPr/>
          <p:nvPr/>
        </p:nvSpPr>
        <p:spPr>
          <a:xfrm flipV="1">
            <a:off x="16293938" y="203554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7"/>
          <p:cNvSpPr/>
          <p:nvPr/>
        </p:nvSpPr>
        <p:spPr>
          <a:xfrm flipH="1" flipV="1">
            <a:off x="15331886" y="165619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8"/>
          <p:cNvSpPr/>
          <p:nvPr/>
        </p:nvSpPr>
        <p:spPr>
          <a:xfrm rot="10800000" flipV="1">
            <a:off x="15331885" y="11578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235190" y="802897"/>
            <a:ext cx="6187377" cy="6648548"/>
          </a:xfrm>
          <a:custGeom>
            <a:avLst/>
            <a:gdLst/>
            <a:ahLst/>
            <a:cxnLst/>
            <a:rect l="l" t="t" r="r" b="b"/>
            <a:pathLst>
              <a:path w="6187377" h="6648548">
                <a:moveTo>
                  <a:pt x="0" y="0"/>
                </a:moveTo>
                <a:lnTo>
                  <a:pt x="6187376" y="0"/>
                </a:lnTo>
                <a:lnTo>
                  <a:pt x="6187376" y="6648548"/>
                </a:lnTo>
                <a:lnTo>
                  <a:pt x="0" y="6648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24926" y="5070323"/>
            <a:ext cx="11137928" cy="4762245"/>
          </a:xfrm>
          <a:custGeom>
            <a:avLst/>
            <a:gdLst/>
            <a:ahLst/>
            <a:cxnLst/>
            <a:rect l="l" t="t" r="r" b="b"/>
            <a:pathLst>
              <a:path w="11137928" h="4762245">
                <a:moveTo>
                  <a:pt x="0" y="0"/>
                </a:moveTo>
                <a:lnTo>
                  <a:pt x="11137928" y="0"/>
                </a:lnTo>
                <a:lnTo>
                  <a:pt x="11137928" y="4762244"/>
                </a:lnTo>
                <a:lnTo>
                  <a:pt x="0" y="4762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990599" y="-138007"/>
            <a:ext cx="13384490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6. ARE FAVOURITE SONGS BEING SKIPPED ? </a:t>
            </a:r>
          </a:p>
        </p:txBody>
      </p:sp>
      <p:sp>
        <p:nvSpPr>
          <p:cNvPr id="14" name="Freeform 3"/>
          <p:cNvSpPr/>
          <p:nvPr/>
        </p:nvSpPr>
        <p:spPr>
          <a:xfrm rot="10800000">
            <a:off x="16274942" y="15129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4"/>
          <p:cNvSpPr/>
          <p:nvPr/>
        </p:nvSpPr>
        <p:spPr>
          <a:xfrm>
            <a:off x="16306678" y="10785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5"/>
          <p:cNvSpPr/>
          <p:nvPr/>
        </p:nvSpPr>
        <p:spPr>
          <a:xfrm rot="10800000" flipV="1">
            <a:off x="15303277" y="214309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6"/>
          <p:cNvSpPr/>
          <p:nvPr/>
        </p:nvSpPr>
        <p:spPr>
          <a:xfrm flipV="1">
            <a:off x="16293938" y="203554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7"/>
          <p:cNvSpPr/>
          <p:nvPr/>
        </p:nvSpPr>
        <p:spPr>
          <a:xfrm flipH="1" flipV="1">
            <a:off x="15331886" y="165619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8"/>
          <p:cNvSpPr/>
          <p:nvPr/>
        </p:nvSpPr>
        <p:spPr>
          <a:xfrm rot="10800000" flipV="1">
            <a:off x="15331885" y="11578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4"/>
          <p:cNvSpPr/>
          <p:nvPr/>
        </p:nvSpPr>
        <p:spPr>
          <a:xfrm>
            <a:off x="1315820" y="813417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5"/>
          <p:cNvSpPr/>
          <p:nvPr/>
        </p:nvSpPr>
        <p:spPr>
          <a:xfrm rot="10800000" flipV="1">
            <a:off x="108110" y="91331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6"/>
          <p:cNvSpPr/>
          <p:nvPr/>
        </p:nvSpPr>
        <p:spPr>
          <a:xfrm flipV="1">
            <a:off x="1315820" y="911267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8"/>
          <p:cNvSpPr/>
          <p:nvPr/>
        </p:nvSpPr>
        <p:spPr>
          <a:xfrm rot="10800000" flipV="1">
            <a:off x="108111" y="815176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331958" y="993522"/>
            <a:ext cx="10031226" cy="5258661"/>
          </a:xfrm>
          <a:custGeom>
            <a:avLst/>
            <a:gdLst/>
            <a:ahLst/>
            <a:cxnLst/>
            <a:rect l="l" t="t" r="r" b="b"/>
            <a:pathLst>
              <a:path w="10031226" h="5258661">
                <a:moveTo>
                  <a:pt x="0" y="0"/>
                </a:moveTo>
                <a:lnTo>
                  <a:pt x="10031227" y="0"/>
                </a:lnTo>
                <a:lnTo>
                  <a:pt x="10031227" y="5258661"/>
                </a:lnTo>
                <a:lnTo>
                  <a:pt x="0" y="5258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762741" y="6252183"/>
            <a:ext cx="6738111" cy="4257597"/>
          </a:xfrm>
          <a:custGeom>
            <a:avLst/>
            <a:gdLst/>
            <a:ahLst/>
            <a:cxnLst/>
            <a:rect l="l" t="t" r="r" b="b"/>
            <a:pathLst>
              <a:path w="6738111" h="4257597">
                <a:moveTo>
                  <a:pt x="0" y="0"/>
                </a:moveTo>
                <a:lnTo>
                  <a:pt x="6738111" y="0"/>
                </a:lnTo>
                <a:lnTo>
                  <a:pt x="6738111" y="4257597"/>
                </a:lnTo>
                <a:lnTo>
                  <a:pt x="0" y="425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1958" y="128183"/>
            <a:ext cx="14630549" cy="72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7. WHAT ARE THE MOST COMMON TIMES OF DAY FOR MUSIC STREAMING ?</a:t>
            </a:r>
          </a:p>
        </p:txBody>
      </p:sp>
      <p:sp>
        <p:nvSpPr>
          <p:cNvPr id="14" name="Freeform 3"/>
          <p:cNvSpPr/>
          <p:nvPr/>
        </p:nvSpPr>
        <p:spPr>
          <a:xfrm rot="10800000">
            <a:off x="16322547" y="-516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4"/>
          <p:cNvSpPr/>
          <p:nvPr/>
        </p:nvSpPr>
        <p:spPr>
          <a:xfrm>
            <a:off x="16274942" y="94652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5"/>
          <p:cNvSpPr/>
          <p:nvPr/>
        </p:nvSpPr>
        <p:spPr>
          <a:xfrm rot="10800000" flipV="1">
            <a:off x="15303277" y="214309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6"/>
          <p:cNvSpPr/>
          <p:nvPr/>
        </p:nvSpPr>
        <p:spPr>
          <a:xfrm flipV="1">
            <a:off x="16298745" y="188359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7"/>
          <p:cNvSpPr/>
          <p:nvPr/>
        </p:nvSpPr>
        <p:spPr>
          <a:xfrm flipH="1" flipV="1">
            <a:off x="15331885" y="77328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8"/>
          <p:cNvSpPr/>
          <p:nvPr/>
        </p:nvSpPr>
        <p:spPr>
          <a:xfrm rot="10800000" flipV="1">
            <a:off x="15331885" y="11578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3"/>
          <p:cNvSpPr/>
          <p:nvPr/>
        </p:nvSpPr>
        <p:spPr>
          <a:xfrm rot="10800000">
            <a:off x="1239982" y="711182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4"/>
          <p:cNvSpPr/>
          <p:nvPr/>
        </p:nvSpPr>
        <p:spPr>
          <a:xfrm>
            <a:off x="1271718" y="8039100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5"/>
          <p:cNvSpPr/>
          <p:nvPr/>
        </p:nvSpPr>
        <p:spPr>
          <a:xfrm rot="10800000" flipV="1">
            <a:off x="268317" y="91036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6"/>
          <p:cNvSpPr/>
          <p:nvPr/>
        </p:nvSpPr>
        <p:spPr>
          <a:xfrm flipV="1">
            <a:off x="1258978" y="899607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7"/>
          <p:cNvSpPr/>
          <p:nvPr/>
        </p:nvSpPr>
        <p:spPr>
          <a:xfrm flipH="1" flipV="1">
            <a:off x="296926" y="7126151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8"/>
          <p:cNvSpPr/>
          <p:nvPr/>
        </p:nvSpPr>
        <p:spPr>
          <a:xfrm rot="10800000" flipV="1">
            <a:off x="296925" y="811835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31958" y="1316444"/>
            <a:ext cx="10077867" cy="3800313"/>
          </a:xfrm>
          <a:custGeom>
            <a:avLst/>
            <a:gdLst/>
            <a:ahLst/>
            <a:cxnLst/>
            <a:rect l="l" t="t" r="r" b="b"/>
            <a:pathLst>
              <a:path w="10077867" h="3800313">
                <a:moveTo>
                  <a:pt x="0" y="0"/>
                </a:moveTo>
                <a:lnTo>
                  <a:pt x="10077868" y="0"/>
                </a:lnTo>
                <a:lnTo>
                  <a:pt x="10077868" y="3800313"/>
                </a:lnTo>
                <a:lnTo>
                  <a:pt x="0" y="3800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893730" y="4861426"/>
            <a:ext cx="5600592" cy="5425574"/>
          </a:xfrm>
          <a:custGeom>
            <a:avLst/>
            <a:gdLst/>
            <a:ahLst/>
            <a:cxnLst/>
            <a:rect l="l" t="t" r="r" b="b"/>
            <a:pathLst>
              <a:path w="5600592" h="5425574">
                <a:moveTo>
                  <a:pt x="0" y="0"/>
                </a:moveTo>
                <a:lnTo>
                  <a:pt x="5600593" y="0"/>
                </a:lnTo>
                <a:lnTo>
                  <a:pt x="5600593" y="5425574"/>
                </a:lnTo>
                <a:lnTo>
                  <a:pt x="0" y="54255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31958" y="32452"/>
            <a:ext cx="12115056" cy="78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9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8.  WHAT ARE THE MOST COMMON DAYS OF </a:t>
            </a:r>
            <a:r>
              <a:rPr lang="en-US" sz="4400" dirty="0" smtClean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THE WEEK </a:t>
            </a:r>
            <a:r>
              <a:rPr lang="en-US" sz="44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487794" y="-26949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1947" y="985070"/>
            <a:ext cx="10610182" cy="3843943"/>
          </a:xfrm>
          <a:custGeom>
            <a:avLst/>
            <a:gdLst/>
            <a:ahLst/>
            <a:cxnLst/>
            <a:rect l="l" t="t" r="r" b="b"/>
            <a:pathLst>
              <a:path w="10610182" h="3843943">
                <a:moveTo>
                  <a:pt x="0" y="0"/>
                </a:moveTo>
                <a:lnTo>
                  <a:pt x="10610182" y="0"/>
                </a:lnTo>
                <a:lnTo>
                  <a:pt x="10610182" y="3843943"/>
                </a:lnTo>
                <a:lnTo>
                  <a:pt x="0" y="3843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14795" y="5009988"/>
            <a:ext cx="8048935" cy="4903987"/>
          </a:xfrm>
          <a:custGeom>
            <a:avLst/>
            <a:gdLst/>
            <a:ahLst/>
            <a:cxnLst/>
            <a:rect l="l" t="t" r="r" b="b"/>
            <a:pathLst>
              <a:path w="8048935" h="4903987">
                <a:moveTo>
                  <a:pt x="0" y="0"/>
                </a:moveTo>
                <a:lnTo>
                  <a:pt x="8048935" y="0"/>
                </a:lnTo>
                <a:lnTo>
                  <a:pt x="8048935" y="4903987"/>
                </a:lnTo>
                <a:lnTo>
                  <a:pt x="0" y="4903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609600" y="0"/>
            <a:ext cx="13365567" cy="70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  <a:spcBef>
                <a:spcPct val="0"/>
              </a:spcBef>
            </a:pPr>
            <a:r>
              <a:rPr lang="en-US" sz="4356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9. IDENTIFY PATTERNS OF EXPLORATION VS. ROUTINE ?</a:t>
            </a:r>
          </a:p>
        </p:txBody>
      </p:sp>
      <p:sp>
        <p:nvSpPr>
          <p:cNvPr id="14" name="Freeform 13"/>
          <p:cNvSpPr/>
          <p:nvPr/>
        </p:nvSpPr>
        <p:spPr>
          <a:xfrm rot="-10800000">
            <a:off x="987944" y="725935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4"/>
          <p:cNvSpPr/>
          <p:nvPr/>
        </p:nvSpPr>
        <p:spPr>
          <a:xfrm flipH="1" flipV="1">
            <a:off x="1994473" y="9272410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5"/>
          <p:cNvSpPr/>
          <p:nvPr/>
        </p:nvSpPr>
        <p:spPr>
          <a:xfrm>
            <a:off x="987944" y="8265881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6"/>
          <p:cNvSpPr/>
          <p:nvPr/>
        </p:nvSpPr>
        <p:spPr>
          <a:xfrm rot="-10800000" flipV="1">
            <a:off x="987944" y="9272410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7"/>
          <p:cNvSpPr/>
          <p:nvPr/>
        </p:nvSpPr>
        <p:spPr>
          <a:xfrm flipH="1" flipV="1">
            <a:off x="-18585" y="725935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8"/>
          <p:cNvSpPr/>
          <p:nvPr/>
        </p:nvSpPr>
        <p:spPr>
          <a:xfrm rot="-10800000" flipV="1">
            <a:off x="-18585" y="8265881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10"/>
          <p:cNvSpPr/>
          <p:nvPr/>
        </p:nvSpPr>
        <p:spPr>
          <a:xfrm rot="10800000" flipV="1">
            <a:off x="-71318" y="92669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498325" y="2628900"/>
            <a:ext cx="13903475" cy="2729908"/>
          </a:xfrm>
          <a:custGeom>
            <a:avLst/>
            <a:gdLst/>
            <a:ahLst/>
            <a:cxnLst/>
            <a:rect l="l" t="t" r="r" b="b"/>
            <a:pathLst>
              <a:path w="14774638" h="2729908">
                <a:moveTo>
                  <a:pt x="0" y="0"/>
                </a:moveTo>
                <a:lnTo>
                  <a:pt x="14774638" y="0"/>
                </a:lnTo>
                <a:lnTo>
                  <a:pt x="14774638" y="2729907"/>
                </a:lnTo>
                <a:lnTo>
                  <a:pt x="0" y="2729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87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800600" y="5806763"/>
            <a:ext cx="11708800" cy="2582169"/>
          </a:xfrm>
          <a:custGeom>
            <a:avLst/>
            <a:gdLst/>
            <a:ahLst/>
            <a:cxnLst/>
            <a:rect l="l" t="t" r="r" b="b"/>
            <a:pathLst>
              <a:path w="11708800" h="2582169">
                <a:moveTo>
                  <a:pt x="0" y="0"/>
                </a:moveTo>
                <a:lnTo>
                  <a:pt x="11708800" y="0"/>
                </a:lnTo>
                <a:lnTo>
                  <a:pt x="11708800" y="2582169"/>
                </a:lnTo>
                <a:lnTo>
                  <a:pt x="0" y="2582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8325" y="109133"/>
            <a:ext cx="13601700" cy="78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9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10.  WHAT PERCENTAGE OF PLAYS COME FROM SHUFFLE MODE ?</a:t>
            </a:r>
          </a:p>
        </p:txBody>
      </p:sp>
      <p:sp>
        <p:nvSpPr>
          <p:cNvPr id="12" name="Freeform 3"/>
          <p:cNvSpPr/>
          <p:nvPr/>
        </p:nvSpPr>
        <p:spPr>
          <a:xfrm rot="10800000">
            <a:off x="885566" y="824071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4"/>
          <p:cNvSpPr/>
          <p:nvPr/>
        </p:nvSpPr>
        <p:spPr>
          <a:xfrm>
            <a:off x="1001589" y="924724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7"/>
          <p:cNvSpPr/>
          <p:nvPr/>
        </p:nvSpPr>
        <p:spPr>
          <a:xfrm flipH="1" flipV="1">
            <a:off x="0" y="821744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8"/>
          <p:cNvSpPr/>
          <p:nvPr/>
        </p:nvSpPr>
        <p:spPr>
          <a:xfrm rot="10800000" flipV="1">
            <a:off x="-4940" y="924724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"/>
          <p:cNvSpPr/>
          <p:nvPr/>
        </p:nvSpPr>
        <p:spPr>
          <a:xfrm rot="10800000">
            <a:off x="16274942" y="15129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4"/>
          <p:cNvSpPr/>
          <p:nvPr/>
        </p:nvSpPr>
        <p:spPr>
          <a:xfrm>
            <a:off x="16306678" y="10785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5"/>
          <p:cNvSpPr/>
          <p:nvPr/>
        </p:nvSpPr>
        <p:spPr>
          <a:xfrm rot="10800000" flipV="1">
            <a:off x="15303277" y="214309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6"/>
          <p:cNvSpPr/>
          <p:nvPr/>
        </p:nvSpPr>
        <p:spPr>
          <a:xfrm flipV="1">
            <a:off x="16293938" y="203554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7"/>
          <p:cNvSpPr/>
          <p:nvPr/>
        </p:nvSpPr>
        <p:spPr>
          <a:xfrm flipH="1" flipV="1">
            <a:off x="15331886" y="165619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8"/>
          <p:cNvSpPr/>
          <p:nvPr/>
        </p:nvSpPr>
        <p:spPr>
          <a:xfrm rot="10800000" flipV="1">
            <a:off x="15331885" y="11578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>
            <a:off x="16274942" y="15129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06678" y="10785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V="1">
            <a:off x="15303277" y="214309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6293938" y="203554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331886" y="165619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15331885" y="115782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1786" y="1028700"/>
            <a:ext cx="11229422" cy="4114800"/>
          </a:xfrm>
          <a:custGeom>
            <a:avLst/>
            <a:gdLst/>
            <a:ahLst/>
            <a:cxnLst/>
            <a:rect l="l" t="t" r="r" b="b"/>
            <a:pathLst>
              <a:path w="11229422" h="4114800">
                <a:moveTo>
                  <a:pt x="0" y="0"/>
                </a:moveTo>
                <a:lnTo>
                  <a:pt x="11229422" y="0"/>
                </a:lnTo>
                <a:lnTo>
                  <a:pt x="112294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63330" y="4344958"/>
            <a:ext cx="7434257" cy="5721012"/>
          </a:xfrm>
          <a:custGeom>
            <a:avLst/>
            <a:gdLst/>
            <a:ahLst/>
            <a:cxnLst/>
            <a:rect l="l" t="t" r="r" b="b"/>
            <a:pathLst>
              <a:path w="7434257" h="5721012">
                <a:moveTo>
                  <a:pt x="0" y="0"/>
                </a:moveTo>
                <a:lnTo>
                  <a:pt x="7434257" y="0"/>
                </a:lnTo>
                <a:lnTo>
                  <a:pt x="7434257" y="5721012"/>
                </a:lnTo>
                <a:lnTo>
                  <a:pt x="0" y="5721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1786" y="-104987"/>
            <a:ext cx="12413903" cy="750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11.  WHICH MONTHS HAD THE MOST STREAMING ACTIVITY ?</a:t>
            </a:r>
          </a:p>
        </p:txBody>
      </p:sp>
      <p:sp>
        <p:nvSpPr>
          <p:cNvPr id="12" name="Freeform 5"/>
          <p:cNvSpPr/>
          <p:nvPr/>
        </p:nvSpPr>
        <p:spPr>
          <a:xfrm rot="10800000" flipV="1">
            <a:off x="1142466" y="828230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flipH="1" flipV="1">
            <a:off x="29737" y="727577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8"/>
          <p:cNvSpPr/>
          <p:nvPr/>
        </p:nvSpPr>
        <p:spPr>
          <a:xfrm rot="10800000" flipV="1">
            <a:off x="29737" y="828230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2"/>
          <p:cNvSpPr/>
          <p:nvPr/>
        </p:nvSpPr>
        <p:spPr>
          <a:xfrm rot="10800000">
            <a:off x="29736" y="940805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8"/>
          <p:cNvSpPr/>
          <p:nvPr/>
        </p:nvSpPr>
        <p:spPr>
          <a:xfrm rot="10800000" flipV="1">
            <a:off x="1142466" y="715655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143000" y="-4646"/>
            <a:ext cx="15203014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  <a:r>
              <a:rPr lang="en-US" sz="4000" dirty="0" smtClean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KEY INSIGHTS ANALYZING DATA</a:t>
            </a:r>
            <a:endParaRPr lang="en-US" sz="400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54564"/>
            <a:ext cx="7772401" cy="32983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4" y="4381500"/>
            <a:ext cx="6324600" cy="55076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435" y="1257300"/>
            <a:ext cx="9258486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06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143000" y="-4646"/>
            <a:ext cx="15203014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  <a:r>
              <a:rPr lang="en-US" sz="4000" dirty="0" smtClean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KEY INSIGHTS ANALYZING DATA</a:t>
            </a:r>
            <a:endParaRPr lang="en-US" sz="400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81100"/>
            <a:ext cx="10515600" cy="881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1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143000" y="-4646"/>
            <a:ext cx="15203014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  <a:r>
              <a:rPr lang="en-US" sz="4000" dirty="0" smtClean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KEY INSIGHTS ANALYZING DATA</a:t>
            </a:r>
            <a:endParaRPr lang="en-US" sz="400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257300"/>
            <a:ext cx="8686800" cy="839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7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143000" y="-4646"/>
            <a:ext cx="15203014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  <a:r>
              <a:rPr lang="en-US" sz="4000" dirty="0" smtClean="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KEY INSIGHTS ANALYZING DATA</a:t>
            </a:r>
            <a:endParaRPr lang="en-US" sz="400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028699"/>
            <a:ext cx="10580873" cy="8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91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649495" y="3186230"/>
            <a:ext cx="12030556" cy="600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82"/>
              </a:lnSpc>
            </a:pPr>
            <a:r>
              <a:rPr lang="en-US" sz="2510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20582"/>
              </a:lnSpc>
            </a:pPr>
            <a:r>
              <a:rPr lang="en-US" sz="25100">
                <a:solidFill>
                  <a:srgbClr val="7ED957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207</Words>
  <Application>Microsoft Office PowerPoint</Application>
  <PresentationFormat>Custom</PresentationFormat>
  <Paragraphs>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Impact</vt:lpstr>
      <vt:lpstr>Arial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dc:creator>Admin</dc:creator>
  <cp:lastModifiedBy>Admin</cp:lastModifiedBy>
  <cp:revision>7</cp:revision>
  <dcterms:created xsi:type="dcterms:W3CDTF">2006-08-16T00:00:00Z</dcterms:created>
  <dcterms:modified xsi:type="dcterms:W3CDTF">2025-07-30T09:06:59Z</dcterms:modified>
  <dc:identifier>DAGuiW-3Hwk</dc:identifier>
</cp:coreProperties>
</file>